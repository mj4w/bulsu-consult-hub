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
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Shape"/>
          <p:cNvSpPr/>
          <p:nvPr/>
        </p:nvSpPr>
        <p:spPr>
          <a:xfrm>
            <a:off x="502920" y="502920"/>
            <a:ext cx="11155680" cy="58521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868680" y="914400"/>
            <a:ext cx="82296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1042416" y="1078992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260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68680" y="1828800"/>
            <a:ext cx="969264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300" b="1">
                <a:solidFill>
                  <a:srgbClr val="F8FAFC"/>
                </a:solidFill>
                <a:latin typeface="Aptos"/>
              </a:rPr>
              <a:t>Student Consultation Scheduler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324612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950">
                <a:solidFill>
                  <a:srgbClr val="B6C3D8"/>
                </a:solidFill>
                <a:latin typeface="Aptos"/>
              </a:rPr>
              <a:t>Architecture, core functions, scheduling workflow, and implementation approach</a:t>
            </a:r>
          </a:p>
        </p:txBody>
      </p:sp>
      <p:sp>
        <p:nvSpPr>
          <p:cNvPr id="7" name="Shape"/>
          <p:cNvSpPr/>
          <p:nvPr/>
        </p:nvSpPr>
        <p:spPr>
          <a:xfrm>
            <a:off x="914400" y="4892040"/>
            <a:ext cx="37490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115568" y="502005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F8FAFC"/>
                </a:solidFill>
                <a:latin typeface="Aptos"/>
              </a:rPr>
              <a:t>Bulacan State University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Project purpose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A focused consultation workflow for students and instructors.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94360" y="187452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00">
                <a:solidFill>
                  <a:srgbClr val="B6C3D8"/>
                </a:solidFill>
                <a:latin typeface="Aptos"/>
              </a:rPr>
              <a:t>The application reduces manual back-and-forth by making availability, requests, approvals, notifications, and consultation history visible in one place.</a:t>
            </a:r>
          </a:p>
        </p:txBody>
      </p:sp>
      <p:sp>
        <p:nvSpPr>
          <p:cNvPr id="5" name="Shape"/>
          <p:cNvSpPr/>
          <p:nvPr/>
        </p:nvSpPr>
        <p:spPr>
          <a:xfrm>
            <a:off x="59436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2296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Students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2296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Browse available instructor windows, choose a preferred time, and submit a clear consultation concern.</a:t>
            </a:r>
          </a:p>
        </p:txBody>
      </p:sp>
      <p:sp>
        <p:nvSpPr>
          <p:cNvPr id="8" name="Shape"/>
          <p:cNvSpPr/>
          <p:nvPr/>
        </p:nvSpPr>
        <p:spPr>
          <a:xfrm>
            <a:off x="438912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1772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Instructors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1772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Publish availability, review student requests, approve or decline, and manage upcoming consultations.</a:t>
            </a:r>
          </a:p>
        </p:txBody>
      </p:sp>
      <p:sp>
        <p:nvSpPr>
          <p:cNvPr id="11" name="Shape"/>
          <p:cNvSpPr/>
          <p:nvPr/>
        </p:nvSpPr>
        <p:spPr>
          <a:xfrm>
            <a:off x="818388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41248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System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1248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Protect schedules from duplicate bookings and keep both dashboards updated in realtime.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High-level architecture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Next.js handles the interface. Supabase handles auth, data, and realtime sync.</a:t>
            </a:r>
          </a:p>
        </p:txBody>
      </p:sp>
      <p:sp>
        <p:nvSpPr>
          <p:cNvPr id="26" name="Shape"/>
          <p:cNvSpPr/>
          <p:nvPr/>
        </p:nvSpPr>
        <p:spPr>
          <a:xfrm>
            <a:off x="594360" y="2148840"/>
            <a:ext cx="11018520" cy="2788920"/>
          </a:xfrm>
          <a:prstGeom prst="roundRect">
            <a:avLst/>
          </a:prstGeom>
          <a:solidFill>
            <a:srgbClr val="23324F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5" name="Shape"/>
          <p:cNvSpPr/>
          <p:nvPr/>
        </p:nvSpPr>
        <p:spPr>
          <a:xfrm>
            <a:off x="594360" y="2743200"/>
            <a:ext cx="196596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2563EB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758952" y="29718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00" b="1">
                <a:solidFill>
                  <a:srgbClr val="F8FAFC"/>
                </a:solidFill>
                <a:latin typeface="Aptos"/>
              </a:rPr>
              <a:t>Browser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758952" y="3429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>
                <a:solidFill>
                  <a:srgbClr val="B6C3D8"/>
                </a:solidFill>
                <a:latin typeface="Aptos"/>
              </a:rPr>
              <a:t>Student and instructor dashboards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560320" y="325526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900" b="1">
                <a:solidFill>
                  <a:srgbClr val="60A5FA"/>
                </a:solidFill>
                <a:latin typeface="Aptos"/>
              </a:rPr>
              <a:t>→</a:t>
            </a:r>
          </a:p>
        </p:txBody>
      </p:sp>
      <p:sp>
        <p:nvSpPr>
          <p:cNvPr id="9" name="Shape"/>
          <p:cNvSpPr/>
          <p:nvPr/>
        </p:nvSpPr>
        <p:spPr>
          <a:xfrm>
            <a:off x="2880360" y="2743200"/>
            <a:ext cx="196596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8B5CF6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3044952" y="29718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00" b="1">
                <a:solidFill>
                  <a:srgbClr val="F8FAFC"/>
                </a:solidFill>
                <a:latin typeface="Aptos"/>
              </a:rPr>
              <a:t>Next.js App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044952" y="3429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>
                <a:solidFill>
                  <a:srgbClr val="B6C3D8"/>
                </a:solidFill>
                <a:latin typeface="Aptos"/>
              </a:rPr>
              <a:t>Routes, UI, server checks, role routing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846320" y="325526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900" b="1">
                <a:solidFill>
                  <a:srgbClr val="60A5FA"/>
                </a:solidFill>
                <a:latin typeface="Aptos"/>
              </a:rPr>
              <a:t>→</a:t>
            </a:r>
          </a:p>
        </p:txBody>
      </p:sp>
      <p:sp>
        <p:nvSpPr>
          <p:cNvPr id="13" name="Shape"/>
          <p:cNvSpPr/>
          <p:nvPr/>
        </p:nvSpPr>
        <p:spPr>
          <a:xfrm>
            <a:off x="5166360" y="2743200"/>
            <a:ext cx="196596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10B981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5330952" y="29718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00" b="1">
                <a:solidFill>
                  <a:srgbClr val="F8FAFC"/>
                </a:solidFill>
                <a:latin typeface="Aptos"/>
              </a:rPr>
              <a:t>Supabase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330952" y="3429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>
                <a:solidFill>
                  <a:srgbClr val="B6C3D8"/>
                </a:solidFill>
                <a:latin typeface="Aptos"/>
              </a:rPr>
              <a:t>Auth, Postgres, RLS, Realtime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132320" y="325526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900" b="1">
                <a:solidFill>
                  <a:srgbClr val="60A5FA"/>
                </a:solidFill>
                <a:latin typeface="Aptos"/>
              </a:rPr>
              <a:t>→</a:t>
            </a:r>
          </a:p>
        </p:txBody>
      </p:sp>
      <p:sp>
        <p:nvSpPr>
          <p:cNvPr id="17" name="Shape"/>
          <p:cNvSpPr/>
          <p:nvPr/>
        </p:nvSpPr>
        <p:spPr>
          <a:xfrm>
            <a:off x="7452360" y="2743200"/>
            <a:ext cx="196596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F59E0B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7616952" y="29718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00" b="1">
                <a:solidFill>
                  <a:srgbClr val="F8FAFC"/>
                </a:solidFill>
                <a:latin typeface="Aptos"/>
              </a:rPr>
              <a:t>Microsoft Entra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616952" y="3429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>
                <a:solidFill>
                  <a:srgbClr val="B6C3D8"/>
                </a:solidFill>
                <a:latin typeface="Aptos"/>
              </a:rPr>
              <a:t>Institutional Microsoft sign-in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418320" y="3255264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900" b="1">
                <a:solidFill>
                  <a:srgbClr val="60A5FA"/>
                </a:solidFill>
                <a:latin typeface="Aptos"/>
              </a:rPr>
              <a:t>→</a:t>
            </a:r>
          </a:p>
        </p:txBody>
      </p:sp>
      <p:sp>
        <p:nvSpPr>
          <p:cNvPr id="21" name="Shape"/>
          <p:cNvSpPr/>
          <p:nvPr/>
        </p:nvSpPr>
        <p:spPr>
          <a:xfrm>
            <a:off x="9738360" y="2743200"/>
            <a:ext cx="196596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60A5FA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9902952" y="29718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00" b="1">
                <a:solidFill>
                  <a:srgbClr val="F8FAFC"/>
                </a:solidFill>
                <a:latin typeface="Aptos"/>
              </a:rPr>
              <a:t>Vercel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902952" y="3429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>
                <a:solidFill>
                  <a:srgbClr val="B6C3D8"/>
                </a:solidFill>
                <a:latin typeface="Aptos"/>
              </a:rPr>
              <a:t>Production hosting and environment variables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14400" y="523036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450">
                <a:solidFill>
                  <a:srgbClr val="B6C3D8"/>
                </a:solidFill>
                <a:latin typeface="Aptos"/>
              </a:rPr>
              <a:t>Data security is handled through Supabase Auth, row-level security policies, and role-based application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Application modules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The app is separated by user role and workflow stage.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94360" y="187452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00">
                <a:solidFill>
                  <a:srgbClr val="B6C3D8"/>
                </a:solidFill>
                <a:latin typeface="Aptos"/>
              </a:rPr>
              <a:t>Each route has a clear responsibility, which keeps the student and instructor experiences from becoming mixed or confusing.</a:t>
            </a:r>
          </a:p>
        </p:txBody>
      </p:sp>
      <p:sp>
        <p:nvSpPr>
          <p:cNvPr id="5" name="Shape"/>
          <p:cNvSpPr/>
          <p:nvPr/>
        </p:nvSpPr>
        <p:spPr>
          <a:xfrm>
            <a:off x="59436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2296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2296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Landing page explaining purpose, users, workflow, and sign-in.</a:t>
            </a:r>
          </a:p>
        </p:txBody>
      </p:sp>
      <p:sp>
        <p:nvSpPr>
          <p:cNvPr id="8" name="Shape"/>
          <p:cNvSpPr/>
          <p:nvPr/>
        </p:nvSpPr>
        <p:spPr>
          <a:xfrm>
            <a:off x="438912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1772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/dashboard/student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1772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Student calendar, profile status, upcoming consultation, request flow, notifications.</a:t>
            </a:r>
          </a:p>
        </p:txBody>
      </p:sp>
      <p:sp>
        <p:nvSpPr>
          <p:cNvPr id="11" name="Shape"/>
          <p:cNvSpPr/>
          <p:nvPr/>
        </p:nvSpPr>
        <p:spPr>
          <a:xfrm>
            <a:off x="818388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41248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/dashboard/instructor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1248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Instructor availability calendar, approved schedules, active window metrics.</a:t>
            </a:r>
          </a:p>
        </p:txBody>
      </p:sp>
      <p:sp>
        <p:nvSpPr>
          <p:cNvPr id="14" name="Shape"/>
          <p:cNvSpPr/>
          <p:nvPr/>
        </p:nvSpPr>
        <p:spPr>
          <a:xfrm>
            <a:off x="594360" y="384048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822960" y="40416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/dashboard/instructor/requests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22960" y="442569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Pending and reviewed request management with pagination.</a:t>
            </a:r>
          </a:p>
        </p:txBody>
      </p:sp>
      <p:sp>
        <p:nvSpPr>
          <p:cNvPr id="17" name="Shape"/>
          <p:cNvSpPr/>
          <p:nvPr/>
        </p:nvSpPr>
        <p:spPr>
          <a:xfrm>
            <a:off x="4389120" y="384048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4617720" y="40416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/dashboard/student/history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617720" y="442569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Searchable consultation history for students.</a:t>
            </a:r>
          </a:p>
        </p:txBody>
      </p:sp>
      <p:sp>
        <p:nvSpPr>
          <p:cNvPr id="20" name="Shape"/>
          <p:cNvSpPr/>
          <p:nvPr/>
        </p:nvSpPr>
        <p:spPr>
          <a:xfrm>
            <a:off x="8183880" y="384048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412480" y="40416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/instructor-portal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412480" y="442569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Optional non-Microsoft instructor test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Authentication and roles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Sign-in determines where the user belongs.</a:t>
            </a:r>
          </a:p>
        </p:txBody>
      </p:sp>
      <p:sp>
        <p:nvSpPr>
          <p:cNvPr id="5" name="Shape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905256" y="2157984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Shape"/>
          <p:cNvSpPr/>
          <p:nvPr/>
        </p:nvSpPr>
        <p:spPr>
          <a:xfrm>
            <a:off x="1481328" y="1984248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700784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User signs in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114800" y="210312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Students use Microsoft. Test instructors may use the instructor portal.</a:t>
            </a:r>
          </a:p>
        </p:txBody>
      </p:sp>
      <p:sp>
        <p:nvSpPr>
          <p:cNvPr id="10" name="Shape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05256" y="2944368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2" name="Shape"/>
          <p:cNvSpPr/>
          <p:nvPr/>
        </p:nvSpPr>
        <p:spPr>
          <a:xfrm>
            <a:off x="1481328" y="2770632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700784" y="28895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Profile is created or repaired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114800" y="2889504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Supabase stores role, email, full name, and required profile details.</a:t>
            </a:r>
          </a:p>
        </p:txBody>
      </p:sp>
      <p:sp>
        <p:nvSpPr>
          <p:cNvPr id="15" name="Shape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05256" y="3730752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7" name="Shape"/>
          <p:cNvSpPr/>
          <p:nvPr/>
        </p:nvSpPr>
        <p:spPr>
          <a:xfrm>
            <a:off x="1481328" y="3557016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700784" y="36758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Role is inferred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114800" y="367588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Student numbers are numeric email prefixes. Instructor accounts use instructor role records.</a:t>
            </a:r>
          </a:p>
        </p:txBody>
      </p:sp>
      <p:sp>
        <p:nvSpPr>
          <p:cNvPr id="20" name="Shape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05256" y="4517136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2" name="Shape"/>
          <p:cNvSpPr/>
          <p:nvPr/>
        </p:nvSpPr>
        <p:spPr>
          <a:xfrm>
            <a:off x="1481328" y="4343400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700784" y="44622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Dashboard is protected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114800" y="446227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Unauthenticated users are blocked and role mismatch redirects are enforced.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Database design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Core tables support profile identity, availability, and consultation requests.</a:t>
            </a:r>
          </a:p>
        </p:txBody>
      </p:sp>
      <p:sp>
        <p:nvSpPr>
          <p:cNvPr id="5" name="Shape"/>
          <p:cNvSpPr/>
          <p:nvPr/>
        </p:nvSpPr>
        <p:spPr>
          <a:xfrm>
            <a:off x="640080" y="1874520"/>
            <a:ext cx="10881360" cy="53035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68680" y="199339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60A5FA"/>
                </a:solidFill>
                <a:latin typeface="Aptos"/>
              </a:rPr>
              <a:t>profiles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337560" y="199339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User identity, role, full name, email, program, section, contact details.</a:t>
            </a:r>
          </a:p>
        </p:txBody>
      </p:sp>
      <p:sp>
        <p:nvSpPr>
          <p:cNvPr id="8" name="Shape"/>
          <p:cNvSpPr/>
          <p:nvPr/>
        </p:nvSpPr>
        <p:spPr>
          <a:xfrm>
            <a:off x="640080" y="2587752"/>
            <a:ext cx="10881360" cy="530352"/>
          </a:xfrm>
          <a:prstGeom prst="roundRect">
            <a:avLst/>
          </a:prstGeom>
          <a:solidFill>
            <a:srgbClr val="23324F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868680" y="2706624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60A5FA"/>
                </a:solidFill>
                <a:latin typeface="Aptos"/>
              </a:rPr>
              <a:t>instructor_availability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337560" y="2706624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Instructor time windows, format, program scope, active status.</a:t>
            </a:r>
          </a:p>
        </p:txBody>
      </p:sp>
      <p:sp>
        <p:nvSpPr>
          <p:cNvPr id="11" name="Shape"/>
          <p:cNvSpPr/>
          <p:nvPr/>
        </p:nvSpPr>
        <p:spPr>
          <a:xfrm>
            <a:off x="640080" y="3300984"/>
            <a:ext cx="10881360" cy="53035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68680" y="3419856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60A5FA"/>
                </a:solidFill>
                <a:latin typeface="Aptos"/>
              </a:rPr>
              <a:t>consultation_requests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337560" y="3419856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Student request, selected time, purpose, status, decision notes.</a:t>
            </a:r>
          </a:p>
        </p:txBody>
      </p:sp>
      <p:sp>
        <p:nvSpPr>
          <p:cNvPr id="14" name="Shape"/>
          <p:cNvSpPr/>
          <p:nvPr/>
        </p:nvSpPr>
        <p:spPr>
          <a:xfrm>
            <a:off x="640080" y="4014216"/>
            <a:ext cx="10881360" cy="530352"/>
          </a:xfrm>
          <a:prstGeom prst="roundRect">
            <a:avLst/>
          </a:prstGeom>
          <a:solidFill>
            <a:srgbClr val="23324F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868680" y="4133088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60A5FA"/>
                </a:solidFill>
                <a:latin typeface="Aptos"/>
              </a:rPr>
              <a:t>test_teacher_accounts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337560" y="4133088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Controlled non-Microsoft instructor testing support.</a:t>
            </a:r>
          </a:p>
        </p:txBody>
      </p:sp>
      <p:sp>
        <p:nvSpPr>
          <p:cNvPr id="17" name="Shape"/>
          <p:cNvSpPr/>
          <p:nvPr/>
        </p:nvSpPr>
        <p:spPr>
          <a:xfrm>
            <a:off x="640080" y="4727448"/>
            <a:ext cx="10881360" cy="53035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868680" y="484632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00" b="1">
                <a:solidFill>
                  <a:srgbClr val="60A5FA"/>
                </a:solidFill>
                <a:latin typeface="Aptos"/>
              </a:rPr>
              <a:t>Realtime publication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3337560" y="484632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Keeps dashboards synchronized after inserts, updates, and deletes.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Student core flow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Students request a specific time inside an instructor window.</a:t>
            </a:r>
          </a:p>
        </p:txBody>
      </p:sp>
      <p:sp>
        <p:nvSpPr>
          <p:cNvPr id="5" name="Shape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905256" y="2157984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Shape"/>
          <p:cNvSpPr/>
          <p:nvPr/>
        </p:nvSpPr>
        <p:spPr>
          <a:xfrm>
            <a:off x="1481328" y="1984248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700784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Complete profile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114800" y="210312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Student number and email are locked; program and section are required.</a:t>
            </a:r>
          </a:p>
        </p:txBody>
      </p:sp>
      <p:sp>
        <p:nvSpPr>
          <p:cNvPr id="10" name="Shape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05256" y="2944368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2" name="Shape"/>
          <p:cNvSpPr/>
          <p:nvPr/>
        </p:nvSpPr>
        <p:spPr>
          <a:xfrm>
            <a:off x="1481328" y="2770632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700784" y="28895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Browse calendar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114800" y="2889504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Availability is filtered by program and visible instructor windows.</a:t>
            </a:r>
          </a:p>
        </p:txBody>
      </p:sp>
      <p:sp>
        <p:nvSpPr>
          <p:cNvPr id="15" name="Shape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05256" y="3730752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7" name="Shape"/>
          <p:cNvSpPr/>
          <p:nvPr/>
        </p:nvSpPr>
        <p:spPr>
          <a:xfrm>
            <a:off x="1481328" y="3557016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700784" y="36758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Select time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114800" y="367588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Preferred time must be inside the instructor availability range.</a:t>
            </a:r>
          </a:p>
        </p:txBody>
      </p:sp>
      <p:sp>
        <p:nvSpPr>
          <p:cNvPr id="20" name="Shape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05256" y="4517136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2" name="Shape"/>
          <p:cNvSpPr/>
          <p:nvPr/>
        </p:nvSpPr>
        <p:spPr>
          <a:xfrm>
            <a:off x="1481328" y="4343400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700784" y="44622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Submit request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114800" y="446227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Purpose and format are saved as a pending consultation request.</a:t>
            </a:r>
          </a:p>
        </p:txBody>
      </p:sp>
      <p:sp>
        <p:nvSpPr>
          <p:cNvPr id="25" name="Shape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905256" y="530352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7" name="Shape"/>
          <p:cNvSpPr/>
          <p:nvPr/>
        </p:nvSpPr>
        <p:spPr>
          <a:xfrm>
            <a:off x="1481328" y="5129784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1700784" y="52486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Track result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114800" y="5248656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Pending and approved requests appear in calendar and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Instructor core flow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Instructors manage availability and review requests.</a:t>
            </a:r>
          </a:p>
        </p:txBody>
      </p:sp>
      <p:sp>
        <p:nvSpPr>
          <p:cNvPr id="5" name="Shape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905256" y="2157984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Shape"/>
          <p:cNvSpPr/>
          <p:nvPr/>
        </p:nvSpPr>
        <p:spPr>
          <a:xfrm>
            <a:off x="1481328" y="1984248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700784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Create availability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114800" y="210312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Drag/select a time range and set format plus program scope.</a:t>
            </a:r>
          </a:p>
        </p:txBody>
      </p:sp>
      <p:sp>
        <p:nvSpPr>
          <p:cNvPr id="10" name="Shape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05256" y="2944368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2" name="Shape"/>
          <p:cNvSpPr/>
          <p:nvPr/>
        </p:nvSpPr>
        <p:spPr>
          <a:xfrm>
            <a:off x="1481328" y="2770632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1700784" y="2889504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Review pending requests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114800" y="2889504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Requests show student name, date, time, purpose, and format.</a:t>
            </a:r>
          </a:p>
        </p:txBody>
      </p:sp>
      <p:sp>
        <p:nvSpPr>
          <p:cNvPr id="15" name="Shape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05256" y="3730752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7" name="Shape"/>
          <p:cNvSpPr/>
          <p:nvPr/>
        </p:nvSpPr>
        <p:spPr>
          <a:xfrm>
            <a:off x="1481328" y="3557016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700784" y="36758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Approve or decline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114800" y="3675888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Actions are protected with conflict checks and clear feedback.</a:t>
            </a:r>
          </a:p>
        </p:txBody>
      </p:sp>
      <p:sp>
        <p:nvSpPr>
          <p:cNvPr id="20" name="Shape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905256" y="4517136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2" name="Shape"/>
          <p:cNvSpPr/>
          <p:nvPr/>
        </p:nvSpPr>
        <p:spPr>
          <a:xfrm>
            <a:off x="1481328" y="4343400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700784" y="44622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Manage upcoming schedules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114800" y="446227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Approved upcoming consultations can be rescheduled or cancelled.</a:t>
            </a:r>
          </a:p>
        </p:txBody>
      </p:sp>
      <p:sp>
        <p:nvSpPr>
          <p:cNvPr id="25" name="Shape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905256" y="5303520"/>
            <a:ext cx="20116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5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7" name="Shape"/>
          <p:cNvSpPr/>
          <p:nvPr/>
        </p:nvSpPr>
        <p:spPr>
          <a:xfrm>
            <a:off x="1481328" y="5129784"/>
            <a:ext cx="9601200" cy="621792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1700784" y="524865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F8FAFC"/>
                </a:solidFill>
                <a:latin typeface="Aptos"/>
              </a:rPr>
              <a:t>View past schedules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114800" y="5248656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20">
                <a:solidFill>
                  <a:srgbClr val="B6C3D8"/>
                </a:solidFill>
                <a:latin typeface="Aptos"/>
              </a:rPr>
              <a:t>Past approved consultations are view-only for record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Scheduling rules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The system protects availability from conflicts and unclear states.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2011680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886968" y="22402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344168" y="21945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No duplicate approved slot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344168" y="25146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Once a request is approved, the occupied time is removed from student availability.</a:t>
            </a:r>
          </a:p>
        </p:txBody>
      </p:sp>
      <p:sp>
        <p:nvSpPr>
          <p:cNvPr id="9" name="Shape"/>
          <p:cNvSpPr/>
          <p:nvPr/>
        </p:nvSpPr>
        <p:spPr>
          <a:xfrm>
            <a:off x="6217920" y="2011680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Shape"/>
          <p:cNvSpPr/>
          <p:nvPr/>
        </p:nvSpPr>
        <p:spPr>
          <a:xfrm>
            <a:off x="6419088" y="224028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876288" y="21945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Multiple instructors supported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76288" y="25146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Students can see different instructor schedules on the same date.</a:t>
            </a:r>
          </a:p>
        </p:txBody>
      </p:sp>
      <p:sp>
        <p:nvSpPr>
          <p:cNvPr id="13" name="Shape"/>
          <p:cNvSpPr/>
          <p:nvPr/>
        </p:nvSpPr>
        <p:spPr>
          <a:xfrm>
            <a:off x="685800" y="3218688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Shape"/>
          <p:cNvSpPr/>
          <p:nvPr/>
        </p:nvSpPr>
        <p:spPr>
          <a:xfrm>
            <a:off x="886968" y="344728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344168" y="340156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Past schedules are locked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44168" y="372160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Past approved consultations become view-only.</a:t>
            </a:r>
          </a:p>
        </p:txBody>
      </p:sp>
      <p:sp>
        <p:nvSpPr>
          <p:cNvPr id="17" name="Shape"/>
          <p:cNvSpPr/>
          <p:nvPr/>
        </p:nvSpPr>
        <p:spPr>
          <a:xfrm>
            <a:off x="6217920" y="3218688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"/>
          <p:cNvSpPr/>
          <p:nvPr/>
        </p:nvSpPr>
        <p:spPr>
          <a:xfrm>
            <a:off x="6419088" y="344728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876288" y="340156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One-day cancellation guard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876288" y="372160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Students cannot freely cancel or edit close to the consultation date.</a:t>
            </a:r>
          </a:p>
        </p:txBody>
      </p:sp>
      <p:sp>
        <p:nvSpPr>
          <p:cNvPr id="21" name="Shape"/>
          <p:cNvSpPr/>
          <p:nvPr/>
        </p:nvSpPr>
        <p:spPr>
          <a:xfrm>
            <a:off x="685800" y="4425696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Shape"/>
          <p:cNvSpPr/>
          <p:nvPr/>
        </p:nvSpPr>
        <p:spPr>
          <a:xfrm>
            <a:off x="886968" y="4654296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344168" y="460857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Instructor delete behavior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344168" y="4928616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Deleting availability does not silently erase approved consultation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Realtime and notifications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Realtime updates keep both sides synchronized.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94360" y="187452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00">
                <a:solidFill>
                  <a:srgbClr val="B6C3D8"/>
                </a:solidFill>
                <a:latin typeface="Aptos"/>
              </a:rPr>
              <a:t>Supabase realtime subscriptions update calendars, request lists, notification badges, and dashboard counters after changes.</a:t>
            </a:r>
          </a:p>
        </p:txBody>
      </p:sp>
      <p:sp>
        <p:nvSpPr>
          <p:cNvPr id="5" name="Shape"/>
          <p:cNvSpPr/>
          <p:nvPr/>
        </p:nvSpPr>
        <p:spPr>
          <a:xfrm>
            <a:off x="59436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2296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Student notified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2296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Approved, declined, rescheduled, or cancelled consultation results appear in notifications.</a:t>
            </a:r>
          </a:p>
        </p:txBody>
      </p:sp>
      <p:sp>
        <p:nvSpPr>
          <p:cNvPr id="8" name="Shape"/>
          <p:cNvSpPr/>
          <p:nvPr/>
        </p:nvSpPr>
        <p:spPr>
          <a:xfrm>
            <a:off x="438912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1772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Instructor notified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1772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New student requests and pending counts appear without manual page refresh.</a:t>
            </a:r>
          </a:p>
        </p:txBody>
      </p:sp>
      <p:sp>
        <p:nvSpPr>
          <p:cNvPr id="11" name="Shape"/>
          <p:cNvSpPr/>
          <p:nvPr/>
        </p:nvSpPr>
        <p:spPr>
          <a:xfrm>
            <a:off x="8183880" y="2880360"/>
            <a:ext cx="3520440" cy="150876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412480" y="308152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Calendar sync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12480" y="3465576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Availability changes, occupied slots, and request statuses update across dashboards.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Security and deployment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Production setup depends on correct auth, RLS, and environment configuration.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94360" y="1874520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00">
                <a:solidFill>
                  <a:srgbClr val="B6C3D8"/>
                </a:solidFill>
                <a:latin typeface="Aptos"/>
              </a:rPr>
              <a:t>The app is hosted on Vercel and uses Supabase policies to restrict database access by role and ownership.</a:t>
            </a:r>
          </a:p>
        </p:txBody>
      </p:sp>
      <p:sp>
        <p:nvSpPr>
          <p:cNvPr id="5" name="Shape"/>
          <p:cNvSpPr/>
          <p:nvPr/>
        </p:nvSpPr>
        <p:spPr>
          <a:xfrm>
            <a:off x="59436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2296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Domain control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2296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Students are restricted to @ms.bulsu.edu.ph accounts.</a:t>
            </a:r>
          </a:p>
        </p:txBody>
      </p:sp>
      <p:sp>
        <p:nvSpPr>
          <p:cNvPr id="8" name="Shape"/>
          <p:cNvSpPr/>
          <p:nvPr/>
        </p:nvSpPr>
        <p:spPr>
          <a:xfrm>
            <a:off x="438912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461772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RLS policies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1772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Users can only access records allowed by their role and relationship to the request.</a:t>
            </a:r>
          </a:p>
        </p:txBody>
      </p:sp>
      <p:sp>
        <p:nvSpPr>
          <p:cNvPr id="11" name="Shape"/>
          <p:cNvSpPr/>
          <p:nvPr/>
        </p:nvSpPr>
        <p:spPr>
          <a:xfrm>
            <a:off x="8183880" y="251460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8412480" y="271576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Redirect URLs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12480" y="309981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Supabase and Microsoft Entra must both include local and production callback URLs.</a:t>
            </a:r>
          </a:p>
        </p:txBody>
      </p:sp>
      <p:sp>
        <p:nvSpPr>
          <p:cNvPr id="14" name="Shape"/>
          <p:cNvSpPr/>
          <p:nvPr/>
        </p:nvSpPr>
        <p:spPr>
          <a:xfrm>
            <a:off x="594360" y="3840480"/>
            <a:ext cx="3520440" cy="10972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822960" y="40416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550" b="1">
                <a:solidFill>
                  <a:srgbClr val="F8FAFC"/>
                </a:solidFill>
                <a:latin typeface="Aptos"/>
              </a:rPr>
              <a:t>Environment variables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22960" y="4425696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050">
                <a:solidFill>
                  <a:srgbClr val="B6C3D8"/>
                </a:solidFill>
                <a:latin typeface="Aptos"/>
              </a:rPr>
              <a:t>Vercel must include Supabase URL, publishable key, and test portal setting.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Supabase database safety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Database security is handled through least-privilege access and strict server-side rules.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2011680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"/>
          <p:cNvSpPr/>
          <p:nvPr/>
        </p:nvSpPr>
        <p:spPr>
          <a:xfrm>
            <a:off x="886968" y="224028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1344168" y="21945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Enable Row Level Security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344168" y="25146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Every user-facing table should have RLS enabled so the anon key cannot read or modify unrestricted data.</a:t>
            </a:r>
          </a:p>
        </p:txBody>
      </p:sp>
      <p:sp>
        <p:nvSpPr>
          <p:cNvPr id="9" name="Shape"/>
          <p:cNvSpPr/>
          <p:nvPr/>
        </p:nvSpPr>
        <p:spPr>
          <a:xfrm>
            <a:off x="6217920" y="2011680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Shape"/>
          <p:cNvSpPr/>
          <p:nvPr/>
        </p:nvSpPr>
        <p:spPr>
          <a:xfrm>
            <a:off x="6419088" y="224028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876288" y="219456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Write precise policies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76288" y="2514600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Students only access their own requests; instructors only access their availability and assigned requests.</a:t>
            </a:r>
          </a:p>
        </p:txBody>
      </p:sp>
      <p:sp>
        <p:nvSpPr>
          <p:cNvPr id="13" name="Shape"/>
          <p:cNvSpPr/>
          <p:nvPr/>
        </p:nvSpPr>
        <p:spPr>
          <a:xfrm>
            <a:off x="685800" y="3218688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Shape"/>
          <p:cNvSpPr/>
          <p:nvPr/>
        </p:nvSpPr>
        <p:spPr>
          <a:xfrm>
            <a:off x="886968" y="3447288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344168" y="340156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Never expose service role keys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44168" y="372160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The service role key must stay server-side only and should never be placed in browser code or Vercel public variables.</a:t>
            </a:r>
          </a:p>
        </p:txBody>
      </p:sp>
      <p:sp>
        <p:nvSpPr>
          <p:cNvPr id="17" name="Shape"/>
          <p:cNvSpPr/>
          <p:nvPr/>
        </p:nvSpPr>
        <p:spPr>
          <a:xfrm>
            <a:off x="6217920" y="3218688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"/>
          <p:cNvSpPr/>
          <p:nvPr/>
        </p:nvSpPr>
        <p:spPr>
          <a:xfrm>
            <a:off x="6419088" y="344728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6876288" y="340156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Validate at the database layer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876288" y="3721608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Use constraints, triggers, and overlap checks so invalid schedules cannot bypass the UI.</a:t>
            </a:r>
          </a:p>
        </p:txBody>
      </p:sp>
      <p:sp>
        <p:nvSpPr>
          <p:cNvPr id="21" name="Shape"/>
          <p:cNvSpPr/>
          <p:nvPr/>
        </p:nvSpPr>
        <p:spPr>
          <a:xfrm>
            <a:off x="685800" y="4425696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Shape"/>
          <p:cNvSpPr/>
          <p:nvPr/>
        </p:nvSpPr>
        <p:spPr>
          <a:xfrm>
            <a:off x="886968" y="4654296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1344168" y="460857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Limit realtime exposure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344168" y="4928616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Only publish tables and columns that users are allowed to observe through RLS-protected subscriptions.</a:t>
            </a:r>
          </a:p>
        </p:txBody>
      </p:sp>
      <p:sp>
        <p:nvSpPr>
          <p:cNvPr id="25" name="Shape"/>
          <p:cNvSpPr/>
          <p:nvPr/>
        </p:nvSpPr>
        <p:spPr>
          <a:xfrm>
            <a:off x="6217920" y="4425696"/>
            <a:ext cx="5074920" cy="96012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Shape"/>
          <p:cNvSpPr/>
          <p:nvPr/>
        </p:nvSpPr>
        <p:spPr>
          <a:xfrm>
            <a:off x="6419088" y="465429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6876288" y="460857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b="1">
                <a:solidFill>
                  <a:srgbClr val="F8FAFC"/>
                </a:solidFill>
                <a:latin typeface="Aptos"/>
              </a:rPr>
              <a:t>Audit and recover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876288" y="4928616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960">
                <a:solidFill>
                  <a:srgbClr val="B6C3D8"/>
                </a:solidFill>
                <a:latin typeface="Aptos"/>
              </a:rPr>
              <a:t>Keep migrations versioned, review Supabase logs, and use backups before destructive schema or data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502920" y="3840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350" b="1">
                <a:solidFill>
                  <a:srgbClr val="60A5FA"/>
                </a:solidFill>
                <a:latin typeface="Aptos"/>
              </a:rPr>
              <a:t>How to make it possible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02920" y="749808"/>
            <a:ext cx="90525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Implementation roadmap</a:t>
            </a:r>
          </a:p>
        </p:txBody>
      </p:sp>
      <p:sp>
        <p:nvSpPr>
          <p:cNvPr id="5" name="Shape"/>
          <p:cNvSpPr/>
          <p:nvPr/>
        </p:nvSpPr>
        <p:spPr>
          <a:xfrm>
            <a:off x="713232" y="2057400"/>
            <a:ext cx="1737360" cy="26974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896112" y="23317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250" b="1">
                <a:solidFill>
                  <a:srgbClr val="60A5FA"/>
                </a:solidFill>
                <a:latin typeface="Aptos"/>
              </a:rPr>
              <a:t>Phase 1</a:t>
            </a:r>
          </a:p>
        </p:txBody>
      </p:sp>
      <p:sp>
        <p:nvSpPr>
          <p:cNvPr id="7" name="Shape"/>
          <p:cNvSpPr/>
          <p:nvPr/>
        </p:nvSpPr>
        <p:spPr>
          <a:xfrm>
            <a:off x="1399032" y="2788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896112" y="3429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30">
                <a:solidFill>
                  <a:srgbClr val="B6C3D8"/>
                </a:solidFill>
                <a:latin typeface="Aptos"/>
              </a:rPr>
              <a:t>Set up Next.js, Tailwind CSS, Supabase client, layout, and theme system.</a:t>
            </a:r>
          </a:p>
        </p:txBody>
      </p:sp>
      <p:sp>
        <p:nvSpPr>
          <p:cNvPr id="9" name="Shape"/>
          <p:cNvSpPr/>
          <p:nvPr/>
        </p:nvSpPr>
        <p:spPr>
          <a:xfrm>
            <a:off x="2926080" y="2057400"/>
            <a:ext cx="1737360" cy="26974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3108960" y="23317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250" b="1">
                <a:solidFill>
                  <a:srgbClr val="60A5FA"/>
                </a:solidFill>
                <a:latin typeface="Aptos"/>
              </a:rPr>
              <a:t>Phase 2</a:t>
            </a:r>
          </a:p>
        </p:txBody>
      </p:sp>
      <p:sp>
        <p:nvSpPr>
          <p:cNvPr id="11" name="Shape"/>
          <p:cNvSpPr/>
          <p:nvPr/>
        </p:nvSpPr>
        <p:spPr>
          <a:xfrm>
            <a:off x="3611880" y="27889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108960" y="3429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30">
                <a:solidFill>
                  <a:srgbClr val="B6C3D8"/>
                </a:solidFill>
                <a:latin typeface="Aptos"/>
              </a:rPr>
              <a:t>Implement Microsoft authentication, profile creation, role routing, and protected dashboards.</a:t>
            </a:r>
          </a:p>
        </p:txBody>
      </p:sp>
      <p:sp>
        <p:nvSpPr>
          <p:cNvPr id="13" name="Shape"/>
          <p:cNvSpPr/>
          <p:nvPr/>
        </p:nvSpPr>
        <p:spPr>
          <a:xfrm>
            <a:off x="5138928" y="2057400"/>
            <a:ext cx="1737360" cy="26974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5321808" y="23317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250" b="1">
                <a:solidFill>
                  <a:srgbClr val="60A5FA"/>
                </a:solidFill>
                <a:latin typeface="Aptos"/>
              </a:rPr>
              <a:t>Phase 3</a:t>
            </a:r>
          </a:p>
        </p:txBody>
      </p:sp>
      <p:sp>
        <p:nvSpPr>
          <p:cNvPr id="15" name="Shape"/>
          <p:cNvSpPr/>
          <p:nvPr/>
        </p:nvSpPr>
        <p:spPr>
          <a:xfrm>
            <a:off x="5824728" y="2788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5321808" y="3429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30">
                <a:solidFill>
                  <a:srgbClr val="B6C3D8"/>
                </a:solidFill>
                <a:latin typeface="Aptos"/>
              </a:rPr>
              <a:t>Build instructor availability calendar and student request calendar.</a:t>
            </a:r>
          </a:p>
        </p:txBody>
      </p:sp>
      <p:sp>
        <p:nvSpPr>
          <p:cNvPr id="17" name="Shape"/>
          <p:cNvSpPr/>
          <p:nvPr/>
        </p:nvSpPr>
        <p:spPr>
          <a:xfrm>
            <a:off x="7351776" y="2057400"/>
            <a:ext cx="1737360" cy="26974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7534656" y="23317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250" b="1">
                <a:solidFill>
                  <a:srgbClr val="60A5FA"/>
                </a:solidFill>
                <a:latin typeface="Aptos"/>
              </a:rPr>
              <a:t>Phase 4</a:t>
            </a:r>
          </a:p>
        </p:txBody>
      </p:sp>
      <p:sp>
        <p:nvSpPr>
          <p:cNvPr id="19" name="Shape"/>
          <p:cNvSpPr/>
          <p:nvPr/>
        </p:nvSpPr>
        <p:spPr>
          <a:xfrm>
            <a:off x="8037576" y="27889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7534656" y="3429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30">
                <a:solidFill>
                  <a:srgbClr val="B6C3D8"/>
                </a:solidFill>
                <a:latin typeface="Aptos"/>
              </a:rPr>
              <a:t>Add approval workflow, conflict prevention, occupied slot reduction, and realtime updates.</a:t>
            </a:r>
          </a:p>
        </p:txBody>
      </p:sp>
      <p:sp>
        <p:nvSpPr>
          <p:cNvPr id="21" name="Shape"/>
          <p:cNvSpPr/>
          <p:nvPr/>
        </p:nvSpPr>
        <p:spPr>
          <a:xfrm>
            <a:off x="9564624" y="2057400"/>
            <a:ext cx="1737360" cy="269748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9747504" y="23317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1250" b="1">
                <a:solidFill>
                  <a:srgbClr val="60A5FA"/>
                </a:solidFill>
                <a:latin typeface="Aptos"/>
              </a:rPr>
              <a:t>Phase 5</a:t>
            </a:r>
          </a:p>
        </p:txBody>
      </p:sp>
      <p:sp>
        <p:nvSpPr>
          <p:cNvPr id="23" name="Shape"/>
          <p:cNvSpPr/>
          <p:nvPr/>
        </p:nvSpPr>
        <p:spPr>
          <a:xfrm>
            <a:off x="10250424" y="2788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9747504" y="34290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n-US" sz="930">
                <a:solidFill>
                  <a:srgbClr val="B6C3D8"/>
                </a:solidFill>
                <a:latin typeface="Aptos"/>
              </a:rPr>
              <a:t>Add notification badges, consultation history, responsive polish, and Vercel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-365760" y="-365760"/>
            <a:ext cx="12984480" cy="75895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7406640" y="-274320"/>
            <a:ext cx="6217920" cy="4754880"/>
          </a:xfrm>
          <a:prstGeom prst="ellipse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"/>
          <p:cNvSpPr/>
          <p:nvPr/>
        </p:nvSpPr>
        <p:spPr>
          <a:xfrm>
            <a:off x="-1097280" y="4480560"/>
            <a:ext cx="5669280" cy="3840480"/>
          </a:xfrm>
          <a:prstGeom prst="ellipse">
            <a:avLst/>
          </a:prstGeom>
          <a:solidFill>
            <a:srgbClr val="8B5CF6">
              <a:alpha val="9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640080" y="685800"/>
            <a:ext cx="10881360" cy="5349240"/>
          </a:xfrm>
          <a:prstGeom prst="roundRect">
            <a:avLst/>
          </a:prstGeom>
          <a:solidFill>
            <a:srgbClr val="1D2A44"/>
          </a:solidFill>
          <a:ln w="12700">
            <a:solidFill>
              <a:srgbClr val="334155"/>
            </a:solidFill>
          </a:ln>
          <a:effectLst>
            <a:outerShdw blurRad="91440" dist="38100" dir="5400000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14400" y="1234440"/>
            <a:ext cx="87782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100" b="1">
                <a:solidFill>
                  <a:srgbClr val="F8FAFC"/>
                </a:solidFill>
                <a:latin typeface="Aptos"/>
              </a:rPr>
              <a:t>Outcome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14400" y="2148840"/>
            <a:ext cx="8869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600">
                <a:solidFill>
                  <a:srgbClr val="B6C3D8"/>
                </a:solidFill>
                <a:latin typeface="Aptos"/>
              </a:rPr>
              <a:t>The system gives students a structured way to request consultations and gives instructors a controlled way to manage academic availability.</a:t>
            </a:r>
          </a:p>
        </p:txBody>
      </p:sp>
      <p:sp>
        <p:nvSpPr>
          <p:cNvPr id="5" name="Shape"/>
          <p:cNvSpPr/>
          <p:nvPr/>
        </p:nvSpPr>
        <p:spPr>
          <a:xfrm>
            <a:off x="987552" y="303580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1325880" y="297180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F8FAFC"/>
                </a:solidFill>
                <a:latin typeface="Aptos"/>
              </a:rPr>
              <a:t>Clearer request process</a:t>
            </a:r>
          </a:p>
        </p:txBody>
      </p:sp>
      <p:sp>
        <p:nvSpPr>
          <p:cNvPr id="7" name="Shape"/>
          <p:cNvSpPr/>
          <p:nvPr/>
        </p:nvSpPr>
        <p:spPr>
          <a:xfrm>
            <a:off x="987552" y="344728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325880" y="338328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F8FAFC"/>
                </a:solidFill>
                <a:latin typeface="Aptos"/>
              </a:rPr>
              <a:t>Less manual schedule coordination</a:t>
            </a:r>
          </a:p>
        </p:txBody>
      </p:sp>
      <p:sp>
        <p:nvSpPr>
          <p:cNvPr id="9" name="Shape"/>
          <p:cNvSpPr/>
          <p:nvPr/>
        </p:nvSpPr>
        <p:spPr>
          <a:xfrm>
            <a:off x="987552" y="385876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325880" y="379476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F8FAFC"/>
                </a:solidFill>
                <a:latin typeface="Aptos"/>
              </a:rPr>
              <a:t>Protected approved slots</a:t>
            </a:r>
          </a:p>
        </p:txBody>
      </p:sp>
      <p:sp>
        <p:nvSpPr>
          <p:cNvPr id="11" name="Shape"/>
          <p:cNvSpPr/>
          <p:nvPr/>
        </p:nvSpPr>
        <p:spPr>
          <a:xfrm>
            <a:off x="987552" y="4270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325880" y="420624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F8FAFC"/>
                </a:solidFill>
                <a:latin typeface="Aptos"/>
              </a:rPr>
              <a:t>Realtime visibility for both roles</a:t>
            </a:r>
          </a:p>
        </p:txBody>
      </p:sp>
      <p:sp>
        <p:nvSpPr>
          <p:cNvPr id="13" name="Shape"/>
          <p:cNvSpPr/>
          <p:nvPr/>
        </p:nvSpPr>
        <p:spPr>
          <a:xfrm>
            <a:off x="987552" y="4681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325880" y="46177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>
                <a:solidFill>
                  <a:srgbClr val="F8FAFC"/>
                </a:solidFill>
                <a:latin typeface="Aptos"/>
              </a:rPr>
              <a:t>Searchable consultation records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14400" y="53035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50">
                <a:solidFill>
                  <a:srgbClr val="B6C3D8"/>
                </a:solidFill>
                <a:latin typeface="Aptos"/>
              </a:rPr>
              <a:t>© 2026 Student Consultation Scheduler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Consultation Scheduler">
  <a:themeElements>
    <a:clrScheme name="Scheduler">
      <a:dk1>
        <a:srgbClr val="111827"/>
      </a:dk1>
      <a:lt1>
        <a:srgbClr val="F8FAFC"/>
      </a:lt1>
      <a:dk2>
        <a:srgbClr val="17233D"/>
      </a:dk2>
      <a:lt2>
        <a:srgbClr val="B6C3D8"/>
      </a:lt2>
      <a:accent1>
        <a:srgbClr val="2563EB"/>
      </a:accent1>
      <a:accent2>
        <a:srgbClr val="10B981"/>
      </a:accent2>
      <a:accent3>
        <a:srgbClr val="8B5CF6"/>
      </a:accent3>
      <a:accent4>
        <a:srgbClr val="F59E0B"/>
      </a:accent4>
      <a:accent5>
        <a:srgbClr val="60A5FA"/>
      </a:accent5>
      <a:accent6>
        <a:srgbClr val="334155"/>
      </a:accent6>
      <a:hlink>
        <a:srgbClr val="60A5FA"/>
      </a:hlink>
      <a:folHlink>
        <a:srgbClr val="8B5CF6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cheduler">
      <a:fillStyleLst>
        <a:solidFill>
          <a:srgbClr val="1D2A44"/>
        </a:solidFill>
      </a:fillStyleLst>
      <a:lnStyleLst>
        <a:ln w="12700">
          <a:solidFill>
            <a:srgbClr val="334155"/>
          </a:solidFill>
        </a:ln>
      </a:lnStyleLst>
      <a:effectStyleLst>
        <a:effectStyle>
          <a:effectLst/>
        </a:effectStyle>
      </a:effectStyleLst>
      <a:bgFillStyleLst>
        <a:solidFill>
          <a:srgbClr val="111827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Consultation Scheduler Architecture</dc:title>
  <dc:creator>Student Consultation Scheduler</dc:creator>
  <cp:lastModifiedBy>Student Consultation Scheduler</cp:lastModifiedBy>
  <dcterms:created xsi:type="dcterms:W3CDTF">2026-08-15T00:00:00Z</dcterms:created>
  <dcterms:modified xsi:type="dcterms:W3CDTF">2026-08-15T00:00:00Z</dcterms:modified>
</cp:coreProperties>
</file>